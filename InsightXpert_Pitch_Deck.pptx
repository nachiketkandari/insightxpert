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14B8A6"/>
                </a:solidFill>
                <a:latin typeface="Calibri"/>
              </a:defRPr>
            </a:pPr>
            <a:r>
              <a:t>AI-Powered Data Analyst for Business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Calibri"/>
              </a:defRPr>
            </a:pPr>
            <a:r>
              <a:t>Ask questions in plain English. Get data-backed answers</a:t>
            </a:r>
            <a:br/>
            <a:r>
              <a:t>from 250K payment transactions — no SQL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480560"/>
            <a:ext cx="21031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Techfest 2025-26  |  IIT Bombay  |  Leadership Analytics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BD5E1"/>
                </a:solidFill>
                <a:latin typeface="Calibri"/>
              </a:defRPr>
            </a:pPr>
            <a:r>
              <a:t>Team: Nachiket Kandari  &amp;  Arush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March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Data-rich but insight-poor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29200" cy="4389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4864" cy="4297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Today's Reality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BD5E1"/>
                </a:solidFill>
                <a:latin typeface="Calibri"/>
              </a:defRPr>
            </a:pPr>
            <a:r>
              <a:t>Organizations generate millions of transactions daily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20040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1089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BD5E1"/>
                </a:solidFill>
                <a:latin typeface="Calibri"/>
              </a:defRPr>
            </a:pPr>
            <a:r>
              <a:t>Business leaders need quick answers but can't write SQL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840479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749039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BD5E1"/>
                </a:solidFill>
                <a:latin typeface="Calibri"/>
              </a:defRPr>
            </a:pPr>
            <a:r>
              <a:t>Data teams become bottlenecks — every question is a ticket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480559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3891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BD5E1"/>
                </a:solidFill>
                <a:latin typeface="Calibri"/>
              </a:defRPr>
            </a:pPr>
            <a:r>
              <a:t>Insights arrive days later, decisions are already made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12064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0292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BD5E1"/>
                </a:solidFill>
                <a:latin typeface="Calibri"/>
              </a:defRPr>
            </a:pPr>
            <a:r>
              <a:t>Analytics tools require training most leaders don't have time for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54864" cy="4297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Questions Leaders 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146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FBBF24"/>
                </a:solidFill>
                <a:latin typeface="Calibri"/>
              </a:defRPr>
            </a:pPr>
            <a:r>
              <a:t>"Which merchant categories show the highest failure rates during peak hours?"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— Head of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747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FBBF24"/>
                </a:solidFill>
                <a:latin typeface="Calibri"/>
              </a:defRPr>
            </a:pPr>
            <a:r>
              <a:t>"How do transaction patterns differ between age groups on weekends?"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— VP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3484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FBBF24"/>
                </a:solidFill>
                <a:latin typeface="Calibri"/>
              </a:defRPr>
            </a:pPr>
            <a:r>
              <a:t>"Flag any merchant categories with unusually high fraud review rates."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46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— Chief Risk Officer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39496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FBBF24"/>
                </a:solidFill>
                <a:latin typeface="Calibri"/>
              </a:defRPr>
            </a:pPr>
            <a:r>
              <a:t>"Are 5G users more likely to complete high-value transactions?"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8064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— Growth 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Calibri"/>
              </a:defRPr>
            </a:pPr>
            <a:r>
              <a:t>InsightXpert translates natural language into SQL, executes it safely against</a:t>
            </a:r>
            <a:br/>
            <a:r>
              <a:t>250,000 transactions, and synthesizes layered, cited answers —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560320" cy="32918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54864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4688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F172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Natural Language</a:t>
            </a:r>
            <a:br/>
            <a:r>
              <a:t>to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Ask in plain English.</a:t>
            </a:r>
            <a:br/>
            <a:r>
              <a:t>The AI writes &amp; runs</a:t>
            </a:r>
            <a:br/>
            <a:r>
              <a:t>the query for you.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286000"/>
            <a:ext cx="2560320" cy="32918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331720"/>
            <a:ext cx="54864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40" y="246888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F172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63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Multi-Agent</a:t>
            </a:r>
            <a:br/>
            <a:r>
              <a:t>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Agentic mode adds</a:t>
            </a:r>
            <a:br/>
            <a:r>
              <a:t>comparative context,</a:t>
            </a:r>
            <a:br/>
            <a:r>
              <a:t>trends &amp; root causes.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2560320" cy="32918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54864" cy="3200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24688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F172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63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Self-Improving</a:t>
            </a:r>
            <a:br/>
            <a:r>
              <a:t>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Every good query is</a:t>
            </a:r>
            <a:br/>
            <a:r>
              <a:t>learned. Accuracy</a:t>
            </a:r>
            <a:br/>
            <a:r>
              <a:t>improves over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286000"/>
            <a:ext cx="2560320" cy="32918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2331720"/>
            <a:ext cx="54864" cy="3200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0" y="246888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487168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F172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63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Explainable</a:t>
            </a:r>
            <a:br/>
            <a:r>
              <a:t>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Every answer includes</a:t>
            </a:r>
            <a:br/>
            <a:r>
              <a:t>evidence, provenance,</a:t>
            </a:r>
            <a:br/>
            <a:r>
              <a:t>caveats &amp; next steps.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14B8A6"/>
                </a:solidFill>
                <a:latin typeface="Calibri"/>
              </a:defRPr>
            </a:pPr>
            <a:r>
              <a:t>Live at: insightxpert-ai.web.app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What the user actually sees</a:t>
            </a:r>
          </a:p>
        </p:txBody>
      </p:sp>
      <p:pic>
        <p:nvPicPr>
          <p:cNvPr id="7" name="Picture 6" descr="dark-mode-agent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08760"/>
            <a:ext cx="10789920" cy="4937760"/>
          </a:xfrm>
          <a:prstGeom prst="roundRect">
            <a:avLst/>
          </a:prstGeom>
          <a:noFill/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How It Works: Basic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Question to insight in under 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01168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0116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F172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Plain English</a:t>
            </a:r>
            <a:br/>
            <a:r>
              <a:t>natural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6517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828800"/>
            <a:ext cx="201168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3280" y="20116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0299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F172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6517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RAG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ChromaDB finds</a:t>
            </a:r>
            <a:br/>
            <a:r>
              <a:t>similar past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517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828800"/>
            <a:ext cx="201168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0" y="20116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0299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F172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517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LLM +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Gemini generates SQL,</a:t>
            </a:r>
            <a:br/>
            <a:r>
              <a:t>calls tools iteratively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517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1828800"/>
            <a:ext cx="201168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0" y="201168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0299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F172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6517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SQL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Read-only SQLite</a:t>
            </a:r>
            <a:br/>
            <a:r>
              <a:t>row-limited, guarded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517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1280" y="2011680"/>
            <a:ext cx="457200" cy="45720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02996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F172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6517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Answer Synthesis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Evidence + caveats +</a:t>
            </a:r>
            <a:br/>
            <a:r>
              <a:t>follow-up suggestions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SSE 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Real-time chunks delivered as the LLM generates them — user sees progress instantly.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5720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Force-Tool-Use Guardrail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9377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The LLM must query the database before answering — zero hallucinated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How It Works: Agentic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Multi-agent pipeline for deep, cited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92608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D948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651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Answers the question immediately.</a:t>
            </a:r>
            <a:br/>
            <a:r>
              <a:t>User sees results right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645920"/>
            <a:ext cx="292608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BBF24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0574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14600"/>
            <a:ext cx="2651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Scores the answer. Decides which</a:t>
            </a:r>
            <a:br/>
            <a:r>
              <a:t>enrichment categories add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45920"/>
            <a:ext cx="292608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783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4B8A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5740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DAG 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514600"/>
            <a:ext cx="2651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Runs sub-agents in parallel:</a:t>
            </a:r>
            <a:br/>
            <a:r>
              <a:t>SQL Analyst + Quant Analyst.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945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1945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Enrichment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25603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97680"/>
            <a:ext cx="25603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Comparative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00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Benchmarks vs. related groups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297680"/>
            <a:ext cx="25603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4297680"/>
            <a:ext cx="25603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4434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Temporal Trend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800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Growing, shrinking, or stable?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97680"/>
            <a:ext cx="25603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97680"/>
            <a:ext cx="25603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434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Root Cause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00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Why does this pattern exist?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297680"/>
            <a:ext cx="25603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4297680"/>
            <a:ext cx="25603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434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800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Break down by age, device, region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5EEAD4"/>
                </a:solidFill>
                <a:latin typeface="Calibri"/>
              </a:defRPr>
            </a:pPr>
            <a:r>
              <a:t>Phase 4: Response Synthesizer merges all results into a single cited insight with [1] [2] numbered 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Architecture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4B8A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28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FastAPI (async, SSE streaming)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0428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Python 3.11 + uv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LLM 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7977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Google Gemini 2.5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55264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LLM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255264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Ollama (runtime switchable)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307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Jinja2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ChromaDB (4 collections)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6817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SQLite, 250K rows, 8 indices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5721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5721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JWT + bcrypt (httpOnly cookies)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4B8A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828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828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Next.js 15/16 + React 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30428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30428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Shadcn/ui + Radix (accessible)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77977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77977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Tailwind CSS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255264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55264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Zustand (4 stores)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307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Animation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307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2062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Recharts (auto-detected)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68172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68172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Custom SSE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15721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15721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Turbopack + Firebase Hosting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3716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4B8A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18288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1828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Firebase + Cloud 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304288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230428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779776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77977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Workload Identity (keyless)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255264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DB Backup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255264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Litestream → GCS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730752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Container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7307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Docker on Cloud Run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2062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Preview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2062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PR preview deployments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1371600"/>
            <a:ext cx="18288" cy="41148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69680" y="1371600"/>
            <a:ext cx="18288" cy="41148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7,000+ LOC backend  |  4,000+ LOC frontend  |  30+ modules  |  50+ components  |  16 test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250,000 synthetic Indian digital payment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6459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5EEAD4"/>
                </a:solidFill>
                <a:latin typeface="Calibri"/>
              </a:defRPr>
            </a:pPr>
            <a:r>
              <a:t>250K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645920"/>
            <a:ext cx="16459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39" y="17373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5EEAD4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2377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645920"/>
            <a:ext cx="16459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7373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5EEAD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377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Txn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645920"/>
            <a:ext cx="16459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7373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5EEAD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2377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45920"/>
            <a:ext cx="16459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5EEAD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Banks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1645920"/>
            <a:ext cx="16459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73736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5EEAD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3774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States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91840"/>
            <a:ext cx="21031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29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Transaction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840480"/>
            <a:ext cx="1828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onsolas"/>
              </a:defRPr>
            </a:pPr>
            <a:r>
              <a:t>transaction_id, timestamp,</a:t>
            </a:r>
            <a:br/>
            <a:r>
              <a:t>transaction_type, amount_inr,</a:t>
            </a:r>
            <a:br/>
            <a:r>
              <a:t>transaction_status, merchant_category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3291840"/>
            <a:ext cx="21031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429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Demographics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840480"/>
            <a:ext cx="1828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onsolas"/>
              </a:defRPr>
            </a:pPr>
            <a:r>
              <a:t>sender_age_group, receiver_age_group,</a:t>
            </a:r>
            <a:br/>
            <a:r>
              <a:t>sender_state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3291840"/>
            <a:ext cx="21031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3429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Banking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840480"/>
            <a:ext cx="1828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onsolas"/>
              </a:defRPr>
            </a:pPr>
            <a:r>
              <a:t>sender_bank, receiver_bank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291840"/>
            <a:ext cx="21031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3429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840480"/>
            <a:ext cx="1828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onsolas"/>
              </a:defRPr>
            </a:pPr>
            <a:r>
              <a:t>device_type, network_type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3291840"/>
            <a:ext cx="21031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429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Risk &amp;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840480"/>
            <a:ext cx="1828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onsolas"/>
              </a:defRPr>
            </a:pPr>
            <a:r>
              <a:t>fraud_flag, hour_of_day,</a:t>
            </a:r>
            <a:br/>
            <a:r>
              <a:t>day_of_week, is_weekend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FBBF24"/>
                </a:solidFill>
                <a:latin typeface="Calibri"/>
              </a:defRPr>
            </a:pPr>
            <a:r>
              <a:t>fraud_flag = 1 means flagged for review, NOT confirmed fraud. All insights are directional — synthetic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Query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6 query types — from simple lookups to statistical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4864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CBD5E1"/>
                </a:solidFill>
                <a:latin typeface="Calibri"/>
              </a:defRPr>
            </a:pPr>
            <a:r>
              <a:t>"What is the average transaction amount for bill payments?"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4864" cy="1280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373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B8A6"/>
                </a:solidFill>
                <a:latin typeface="Calibri"/>
              </a:defRPr>
            </a:pPr>
            <a:r>
              <a:t>Comparative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CBD5E1"/>
                </a:solidFill>
                <a:latin typeface="Calibri"/>
              </a:defRPr>
            </a:pPr>
            <a:r>
              <a:t>"How do failure rates compare between Android and iOS?"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54864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BBF24"/>
                </a:solidFill>
                <a:latin typeface="Calibri"/>
              </a:defRPr>
            </a:pPr>
            <a:r>
              <a:t>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CBD5E1"/>
                </a:solidFill>
                <a:latin typeface="Calibri"/>
              </a:defRPr>
            </a:pPr>
            <a:r>
              <a:t>"What are the peak transaction hours for food delivery?"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0040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54864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918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22C55E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CBD5E1"/>
                </a:solidFill>
                <a:latin typeface="Calibri"/>
              </a:defRPr>
            </a:pPr>
            <a:r>
              <a:t>"Which age group uses P2P transfers most frequently?"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54864" cy="128016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5EEAD4"/>
                </a:solidFill>
                <a:latin typeface="Calibri"/>
              </a:defRPr>
            </a:pPr>
            <a:r>
              <a:t>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CBD5E1"/>
                </a:solidFill>
                <a:latin typeface="Calibri"/>
              </a:defRPr>
            </a:pPr>
            <a:r>
              <a:t>"Is there a relationship between network type and success?"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54880"/>
            <a:ext cx="53035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754880"/>
            <a:ext cx="54864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4444"/>
                </a:solidFill>
                <a:latin typeface="Calibri"/>
              </a:defRPr>
            </a:pPr>
            <a:r>
              <a:t>Risk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257800"/>
            <a:ext cx="4846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CBD5E1"/>
                </a:solidFill>
                <a:latin typeface="Calibri"/>
              </a:defRPr>
            </a:pPr>
            <a:r>
              <a:t>"What % of high-value transactions are flagged for review?"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94A3B8"/>
                </a:solidFill>
                <a:latin typeface="Calibri"/>
              </a:defRPr>
            </a:pPr>
            <a:r>
              <a:t>Ambiguous queries trigger a clarification pre-check — the system asks a targeted follow-up before analyzing.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RAG &amp; Self-Improvement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The system gets smarter with every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Q→SQL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Past questions + their SQL.</a:t>
            </a:r>
            <a:br/>
            <a:r>
              <a:t>Auto-learned from every</a:t>
            </a:r>
            <a:br/>
            <a:r>
              <a:t>successful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20440"/>
            <a:ext cx="10972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5 retrieved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5603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83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DDL 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Table definitions so</a:t>
            </a:r>
            <a:br/>
            <a:r>
              <a:t>the LLM knows</a:t>
            </a:r>
            <a:br/>
            <a:r>
              <a:t>data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520440"/>
            <a:ext cx="10972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5204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3 retrieved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25603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83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Business context &amp;</a:t>
            </a:r>
            <a:br/>
            <a:r>
              <a:t>column descriptions.</a:t>
            </a:r>
            <a:br/>
            <a:r>
              <a:t>Domain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520440"/>
            <a:ext cx="10972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204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3 retrieved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45920"/>
            <a:ext cx="25603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783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28600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Previously detected</a:t>
            </a:r>
            <a:br/>
            <a:r>
              <a:t>patterns &amp; anomalies.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3520440"/>
            <a:ext cx="109728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5204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2 retrieved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Auto-Learning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User asks question  →  LLM generates SQL  →  Query succeeds  →  Q→SQL pair saved to ChromaDB  →  Future similar queries retrieve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SHA-256 deduplication ensures no duplicate entries. Over time, the vector store accumulates</a:t>
            </a:r>
            <a:br/>
            <a:r>
              <a:t>organization-specific phrasing, improving retrieval accuracy for recurring question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Feature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3035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D9488"/>
                </a:solidFill>
                <a:latin typeface="Calibri"/>
              </a:defRPr>
            </a:pPr>
            <a:r>
              <a:t>Chat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Two answer modes: Basic (fast) &amp; Agentic (deep)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7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SSE streaming with real-time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3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Auto-generated charts (bar, pie, line, grouped)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Thinking trace showing agent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3035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5303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17319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4B8A6"/>
                </a:solidFill>
                <a:latin typeface="Calibri"/>
              </a:defRPr>
            </a:pPr>
            <a:r>
              <a:t>Conversation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Full conversation history with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7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Star / rename / delete 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3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Multi-turn context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Lazy message loading for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30352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BBF24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Feature toggles per organization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Branding editor (logo, colors, name)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Prompt template editor (live Jinja2)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User monitoring + conversation viewer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931920"/>
            <a:ext cx="53035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2C55E"/>
                </a:solidFill>
                <a:latin typeface="Calibri"/>
              </a:defRPr>
            </a:pPr>
            <a:r>
              <a:t>SQL 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262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Direct SQL panel with read-only 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920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Results as data table with stats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578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Streaming CSV export for any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623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•  Dataset viewer with column 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Guardrails &amp;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Trust through transparency and constraint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4864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Read-Only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Regex blocklist + SQLite PRAGMA query_only. No writes 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4864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No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Force-tool-use: LLM must call run_sql before answering.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8892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62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Row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00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MAX_ROWS cap (1,000) applied to every query result.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78892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862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Query Timeouts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200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30-second timeout per execution. No runaway queries.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54864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No Causal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343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System prompt enforces correlation-only language.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931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931920"/>
            <a:ext cx="54864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Fraud Flag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343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Always 'flagged for review,' never 'confirmed fraud.'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74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074920"/>
            <a:ext cx="54864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148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Error Sanitization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486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Stack traces never surfaced to the LLM or end user.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074920"/>
            <a:ext cx="530352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5074920"/>
            <a:ext cx="54864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148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Synthetic Caveats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4864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Every insight notes findings are directional.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Insights from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Real findings generated by InsightXpert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2103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D9488"/>
                </a:solidFill>
                <a:latin typeface="Calibri"/>
              </a:defRPr>
            </a:pPr>
            <a:r>
              <a:t>4.95%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Overall failure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12,376 failed transactions across 250K — statistically robust across all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474720" cy="2103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39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BBF24"/>
                </a:solidFill>
                <a:latin typeface="Calibri"/>
              </a:defRPr>
            </a:pPr>
            <a:r>
              <a:t>₹5,097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Highest avg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Education has the highest average ticket but lowest volume — a clear expansion opportunity.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2103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39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EF4444"/>
                </a:solidFill>
                <a:latin typeface="Calibri"/>
              </a:defRPr>
            </a:pPr>
            <a:r>
              <a:t>6.6%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Web + 3G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Worst-performing combo at 6.6% vs 4.95% avg — product team can target with retry logic.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4B8A6"/>
                </a:solidFill>
                <a:latin typeface="Calibri"/>
              </a:defRPr>
            </a:pPr>
            <a:r>
              <a:t>0.19%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Fraud flag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480 flagged events. Shopping category highest at 0.260%. Confidence intervals are essential.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023360"/>
            <a:ext cx="3474720" cy="2103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16052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22C55E"/>
                </a:solidFill>
                <a:latin typeface="Calibri"/>
              </a:defRPr>
            </a:pPr>
            <a:r>
              <a:t>7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8006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Peak 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16636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Transaction volume peaks at 19:00 — consistent with post-work usage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16052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BBF24"/>
                </a:solidFill>
                <a:latin typeface="Calibri"/>
              </a:defRPr>
            </a:pPr>
            <a:r>
              <a:t>26-35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006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Dominant cohort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16636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35% of volume (87K txns). The 36-45 group drives highest ticket size at ₹1,415.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Evaluation Criteria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4864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463039"/>
            <a:ext cx="64008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39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F1729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716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Insight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91639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Force-tool-use guardrail eliminates hallucination. Every answer is backed by an actual SQL query against the 250K-row dataset. Statistical tools validate significance.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54864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514600"/>
            <a:ext cx="64008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F1729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4231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Query 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4320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6 query types handled: descriptive, comparative, temporal, segmentation, correlation, risk. Clarification system handles ambiguity. RAG provides few-shot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79"/>
            <a:ext cx="10698480" cy="868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83279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3566160"/>
            <a:ext cx="64008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F1729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74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794759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5-layer response structure: finding → evidence → provenance → caveats → follow-ups. Agent process timeline shows every step. Citations link to sources.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34840"/>
            <a:ext cx="54864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4617720"/>
            <a:ext cx="64008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61772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F1729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5262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Conversational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4632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Multi-turn context retention. Streaming responses feel instant. Clarification pre-check for vague queries. Thumbs up/down feedback loop.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86400"/>
            <a:ext cx="54864" cy="86868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" y="5669280"/>
            <a:ext cx="64008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66928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F1729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5778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Innovation &amp; Tech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89788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Custom agent engine (not off-the-shelf). Multi-agent DAG executor. Self-improving RAG. Runtime LLM switching. Protocol-based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4A3B8"/>
                </a:solidFill>
                <a:latin typeface="Calibri"/>
              </a:defRPr>
            </a:pPr>
            <a:r>
              <a:t>InsightXpert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What Sets Us Apart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5087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2704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F172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5331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Custom Engine, Not Off-the-Shelf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91639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We replaced Vanna with a purpose-built ~600-line agent engine. Full control over the tool-calling loop, explainability, streaming, and extension 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1069848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54864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560320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7860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F172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0487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Production-Deployed, Not a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Live at insightxpert-ai.web.app — Firebase Hosting + Cloud Run. CI/CD with GitHub Actions. Keyless GCP auth via Workload Identity Federation.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79"/>
            <a:ext cx="1069848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83279"/>
            <a:ext cx="54864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611879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3016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F172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Multi-Agent Depth, Not Just NL2SQL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94759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Agentic mode runs evaluator + DAG executor + response synthesizer. Statistical sub-agent does hypothesis testing with scipy. Cited, numbered references.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1069848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34840"/>
            <a:ext cx="54864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46634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681727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F172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0799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Self-Improving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4632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Every successful Q→SQL pair is auto-saved. SHA-256 deduplication. The system accumulates organizational phrasing and gets smarter over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86400"/>
            <a:ext cx="54864" cy="9144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5715000"/>
            <a:ext cx="365760" cy="36576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3328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F172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59552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Enterprise-Ready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8978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Multi-org support, feature toggles, live prompt editing, user monitoring, conversation viewer, admin panel, runtime LLM switching — not just a demo.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4B8A6"/>
                </a:solidFill>
                <a:latin typeface="Calibri"/>
              </a:defRPr>
            </a:pPr>
            <a:r>
              <a:t>InsightXpert — AI-Powered Data Analyst for Business Leaders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Nachiket Kandari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0916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Architecture, UI/UX, LLM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4297680"/>
            <a:ext cx="18288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Arush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7091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Data Layer, SQL Engine,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EEAD4"/>
                </a:solidFill>
                <a:latin typeface="Calibri"/>
              </a:defRPr>
            </a:pPr>
            <a:r>
              <a:t>Live Demo:  insightxpert-ai.web.app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Techfest 2025-26  |  IIT Bombay  |  Leadership Analytics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